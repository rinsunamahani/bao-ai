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143000"/>
            <a:ext cx="3657600" cy="44897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CSIT 3RD YEAR PROJECT  ·  2026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777240" y="1783080"/>
            <a:ext cx="6583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BaoBao AI</a:t>
            </a:r>
            <a:endParaRPr lang="en-US" sz="6000" dirty="0"/>
          </a:p>
        </p:txBody>
      </p:sp>
      <p:sp>
        <p:nvSpPr>
          <p:cNvPr id="5" name="Shape 2"/>
          <p:cNvSpPr/>
          <p:nvPr/>
        </p:nvSpPr>
        <p:spPr>
          <a:xfrm>
            <a:off x="822960" y="3063240"/>
            <a:ext cx="45720" cy="868680"/>
          </a:xfrm>
          <a:prstGeom prst="rect">
            <a:avLst/>
          </a:prstGeom>
          <a:solidFill>
            <a:srgbClr val="2557D6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3017520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Deep Learning Approach to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African Language Classification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51560" y="404164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EDA, Feature Engineering &amp; Model Architecture  ·  Steps 1–3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4709160"/>
            <a:ext cx="566928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22960" y="5120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Makhura NS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743200" y="5120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Maake KE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663440" y="51206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Mahaini RB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" y="541324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Mokone M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743200" y="541324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Madisha KPT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2800" dirty="0"/>
          </a:p>
        </p:txBody>
      </p:sp>
      <p:pic>
        <p:nvPicPr>
          <p:cNvPr id="4" name="Image 0" descr="/home/claude/assets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287" y="365760"/>
            <a:ext cx="475488" cy="5852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25880"/>
            <a:ext cx="12191695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BaoBao AI — SA Language Classifier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7099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69848" y="169164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Recap &amp; Project Goals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69848" y="202082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language inclusion matters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69848" y="2532888"/>
            <a:ext cx="475488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17099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76288" y="169164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Sourcing the Data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76288" y="202082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NCHLT corpus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876288" y="2532888"/>
            <a:ext cx="475488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8346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69848" y="281635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Profiling the Data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69848" y="31455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Structure, scale, class balance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69848" y="3657600"/>
            <a:ext cx="475488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28346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76288" y="281635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Cleaning &amp; Split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876288" y="31455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text to a training set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76288" y="3657600"/>
            <a:ext cx="475488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39593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069848" y="394106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069848" y="427024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words into math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069848" y="4782312"/>
            <a:ext cx="475488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09360" y="39593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876288" y="394106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Architecture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876288" y="427024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 LSTM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876288" y="4782312"/>
            <a:ext cx="475488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2920" y="508406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069848" y="506577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Setup &amp; Results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069848" y="53949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 and test performance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069848" y="5907024"/>
            <a:ext cx="475488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09360" y="508406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6876288" y="506577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Judging Criteria &amp; Q&amp;A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876288" y="53949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work maps to the rubric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876288" y="5907024"/>
            <a:ext cx="475488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ACQUISITION &amp; ETHICS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Sourcing the Data</a:t>
            </a:r>
            <a:endParaRPr lang="en-US" sz="2800" dirty="0"/>
          </a:p>
        </p:txBody>
      </p:sp>
      <p:pic>
        <p:nvPicPr>
          <p:cNvPr id="4" name="Image 0" descr="/home/claude/assets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287" y="365760"/>
            <a:ext cx="475488" cy="5852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25880"/>
            <a:ext cx="12191695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BaoBao AI — SA Language Classifier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2423160"/>
            <a:ext cx="41148" cy="1417320"/>
          </a:xfrm>
          <a:prstGeom prst="rect">
            <a:avLst/>
          </a:prstGeom>
          <a:solidFill>
            <a:srgbClr val="2557D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33172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and Ethical Foundation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" y="32918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utilized the </a:t>
            </a:r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NCHLT Text Corpora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the primary source for our linguistic training — a publicly available research corpus covering all 11 official South African languages, requiring no additional ethics clearance.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903720" y="1600200"/>
            <a:ext cx="4800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96328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82DB"/>
          </a:solidFill>
          <a:ln/>
        </p:spPr>
      </p:sp>
      <p:sp>
        <p:nvSpPr>
          <p:cNvPr id="13" name="Text 10"/>
          <p:cNvSpPr/>
          <p:nvPr/>
        </p:nvSpPr>
        <p:spPr>
          <a:xfrm>
            <a:off x="7196328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1812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Provenance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196328" y="2395728"/>
            <a:ext cx="42153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by the National Centre for Human Language Technology (NCHLT) — a publicly available South African research corpus.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96328" y="3127248"/>
            <a:ext cx="4215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FA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636,123 real sentences across all 11 official South African languages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96328" y="3520440"/>
            <a:ext cx="4215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FA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available research corpus — no additional ethics clearance required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03720" y="4114800"/>
            <a:ext cx="4800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196328" y="43159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82DB"/>
          </a:solidFill>
          <a:ln/>
        </p:spPr>
      </p:sp>
      <p:sp>
        <p:nvSpPr>
          <p:cNvPr id="20" name="Text 17"/>
          <p:cNvSpPr/>
          <p:nvPr/>
        </p:nvSpPr>
        <p:spPr>
          <a:xfrm>
            <a:off x="7196328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818120" y="43159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NCHLT?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196328" y="4882896"/>
            <a:ext cx="2016252" cy="1097280"/>
          </a:xfrm>
          <a:prstGeom prst="roundRect">
            <a:avLst>
              <a:gd name="adj" fmla="val 5000"/>
            </a:avLst>
          </a:prstGeom>
          <a:solidFill>
            <a:srgbClr val="EAF0FC"/>
          </a:solidFill>
          <a:ln/>
        </p:spPr>
      </p:sp>
      <p:sp>
        <p:nvSpPr>
          <p:cNvPr id="23" name="Text 20"/>
          <p:cNvSpPr/>
          <p:nvPr/>
        </p:nvSpPr>
        <p:spPr>
          <a:xfrm>
            <a:off x="7306056" y="4974336"/>
            <a:ext cx="17967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SOURCING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306056" y="5248656"/>
            <a:ext cx="17967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available corpus — no ethics clearance required.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9395460" y="4882896"/>
            <a:ext cx="2016252" cy="1097280"/>
          </a:xfrm>
          <a:prstGeom prst="roundRect">
            <a:avLst>
              <a:gd name="adj" fmla="val 5000"/>
            </a:avLst>
          </a:prstGeom>
          <a:solidFill>
            <a:srgbClr val="EAF0FC"/>
          </a:solidFill>
          <a:ln/>
        </p:spPr>
      </p:sp>
      <p:sp>
        <p:nvSpPr>
          <p:cNvPr id="26" name="Text 23"/>
          <p:cNvSpPr/>
          <p:nvPr/>
        </p:nvSpPr>
        <p:spPr>
          <a:xfrm>
            <a:off x="9505188" y="4974336"/>
            <a:ext cx="17967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LOW-RESOURCE FOCUS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505188" y="5248656"/>
            <a:ext cx="17967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the data gap in under-represented SA languages.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Profiling the Data</a:t>
            </a:r>
            <a:endParaRPr lang="en-US" sz="2800" dirty="0"/>
          </a:p>
        </p:txBody>
      </p:sp>
      <p:pic>
        <p:nvPicPr>
          <p:cNvPr id="4" name="Image 0" descr="/home/claude/assets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287" y="365760"/>
            <a:ext cx="475488" cy="5852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25880"/>
            <a:ext cx="12191695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BaoBao AI — SA Language Classifier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2240280"/>
            <a:ext cx="41148" cy="1783080"/>
          </a:xfrm>
          <a:prstGeom prst="rect">
            <a:avLst/>
          </a:prstGeom>
          <a:solidFill>
            <a:srgbClr val="2557D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10312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Objectives, Structure &amp; Class Distribution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" y="329184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objective: classify each sentence into 1 of South Africa's 11 official languages. Profiling the raw corpus revealed necessary cleaning steps and a significant class imbalance across languages.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470916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pic>
        <p:nvPicPr>
          <p:cNvPr id="12" name="Image 1" descr="/home/claude/assets/class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426" y="4828032"/>
            <a:ext cx="2954829" cy="1417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903720" y="1600200"/>
            <a:ext cx="4800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96328" y="18105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82DB"/>
          </a:solidFill>
          <a:ln/>
        </p:spPr>
      </p:sp>
      <p:sp>
        <p:nvSpPr>
          <p:cNvPr id="15" name="Text 11"/>
          <p:cNvSpPr/>
          <p:nvPr/>
        </p:nvSpPr>
        <p:spPr>
          <a:xfrm>
            <a:off x="7196328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818120" y="18105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at a Glance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196328" y="2377440"/>
            <a:ext cx="4215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636,123 total sentences spanning all 11 official South African languages.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196328" y="2999232"/>
            <a:ext cx="4215384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196328" y="3090672"/>
            <a:ext cx="42153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STRUCTURE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7196328" y="3319272"/>
            <a:ext cx="42153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 tags (&lt;fn&gt;) and license headers throughout the raw files, requiring removal before training.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903720" y="3931920"/>
            <a:ext cx="4800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196328" y="4133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82DB"/>
          </a:solidFill>
          <a:ln/>
        </p:spPr>
      </p:sp>
      <p:sp>
        <p:nvSpPr>
          <p:cNvPr id="23" name="Text 19"/>
          <p:cNvSpPr/>
          <p:nvPr/>
        </p:nvSpPr>
        <p:spPr>
          <a:xfrm>
            <a:off x="7196328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818120" y="4133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— Class Imbalance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7196328" y="4709160"/>
            <a:ext cx="4215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(largest): 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~139,000 sentences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196328" y="4983480"/>
            <a:ext cx="4215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Tshivenda (smallest): 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~32,000 sentences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196328" y="5303520"/>
            <a:ext cx="42153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~4.3x gap between the largest and smallest of the 11 classes — plain accuracy would be misleading, so Macro F1-Score was chosen as the evaluation metric.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/ PHASE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Cleaning, Preprocessing &amp; Split</a:t>
            </a:r>
            <a:endParaRPr lang="en-US" sz="2800" dirty="0"/>
          </a:p>
        </p:txBody>
      </p:sp>
      <p:pic>
        <p:nvPicPr>
          <p:cNvPr id="4" name="Image 0" descr="/home/claude/assets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287" y="365760"/>
            <a:ext cx="475488" cy="5852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25880"/>
            <a:ext cx="12191695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BaoBao AI — SA Language Classifier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53619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rigorous cleaning, randomization, and splitting pipeline prepared the data for neural network training.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22128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XML to a clean, randomized, and split training-ready dataset.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69748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" y="288036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XML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9224" y="3447288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data ingestion from heterogenous XML source files.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11196" y="269748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857500" y="288036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Filtering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857500" y="3447288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Removal of &lt;fn&gt; tags, license headers, and empty lines.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919472" y="269748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065776" y="288036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Shuffling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065776" y="3447288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dataset randomized before splitting to prevent order bias.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127748" y="269748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274052" y="288036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Val / Test Split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274052" y="3447288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/ 10% / 10% split across all 11 languages.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9336024" y="269748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17233A"/>
          </a:solidFill>
          <a:ln w="12700">
            <a:solidFill>
              <a:srgbClr val="17233A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482328" y="288036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Set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482328" y="3447288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636,123 clean sentences ready for feature engineering.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02920" y="4800600"/>
            <a:ext cx="1118311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77240" y="4983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Validate / Test Split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77240" y="54223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— 80%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77240" y="569671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508,898  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sentences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4434840" y="54223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— 10%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434840" y="569671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63,612  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sentences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8092440" y="54223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— 10%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092440" y="569671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63,613  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—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Encoding</a:t>
            </a:r>
            <a:endParaRPr lang="en-US" sz="2800" dirty="0"/>
          </a:p>
        </p:txBody>
      </p:sp>
      <p:pic>
        <p:nvPicPr>
          <p:cNvPr id="4" name="Image 0" descr="/home/claude/assets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287" y="365760"/>
            <a:ext cx="475488" cy="5852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25880"/>
            <a:ext cx="12191695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BaoBao AI — SA Language Classifier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554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Categorical Equality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encoding ensures the model treats each language as a distinct, equal category, preventing the algorithm from assuming a numerical order between labels.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297180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04088" y="3145536"/>
            <a:ext cx="429768" cy="429768"/>
          </a:xfrm>
          <a:prstGeom prst="roundRect">
            <a:avLst>
              <a:gd name="adj" fmla="val 50000"/>
            </a:avLst>
          </a:prstGeom>
          <a:solidFill>
            <a:srgbClr val="EAF0FC"/>
          </a:solidFill>
          <a:ln/>
        </p:spPr>
      </p:sp>
      <p:sp>
        <p:nvSpPr>
          <p:cNvPr id="12" name="Text 9"/>
          <p:cNvSpPr/>
          <p:nvPr/>
        </p:nvSpPr>
        <p:spPr>
          <a:xfrm>
            <a:off x="704088" y="3145536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80160" y="3108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INPUT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280160" y="33192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Afrikaans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9319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04088" y="4105656"/>
            <a:ext cx="429768" cy="429768"/>
          </a:xfrm>
          <a:prstGeom prst="roundRect">
            <a:avLst>
              <a:gd name="adj" fmla="val 50000"/>
            </a:avLst>
          </a:prstGeom>
          <a:solidFill>
            <a:srgbClr val="EAF0FC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" y="4105656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280160" y="4069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INPUT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280160" y="42793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isiZulu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02920" y="489204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04088" y="5065776"/>
            <a:ext cx="429768" cy="429768"/>
          </a:xfrm>
          <a:prstGeom prst="roundRect">
            <a:avLst>
              <a:gd name="adj" fmla="val 50000"/>
            </a:avLst>
          </a:prstGeom>
          <a:solidFill>
            <a:srgbClr val="EAF0FC"/>
          </a:solidFill>
          <a:ln/>
        </p:spPr>
      </p:sp>
      <p:sp>
        <p:nvSpPr>
          <p:cNvPr id="22" name="Text 19"/>
          <p:cNvSpPr/>
          <p:nvPr/>
        </p:nvSpPr>
        <p:spPr>
          <a:xfrm>
            <a:off x="704088" y="5065776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280160" y="5029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INPUT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280160" y="52395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isiXhosa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949440" y="16002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MATRIX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49440" y="18470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Vectors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949440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Afrikaans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991856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isiZulu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9034272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isiXhosa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779008" y="2697480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1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949440" y="269748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557D6"/>
          </a:solidFill>
          <a:ln/>
        </p:spPr>
      </p:sp>
      <p:sp>
        <p:nvSpPr>
          <p:cNvPr id="32" name="Text 29"/>
          <p:cNvSpPr/>
          <p:nvPr/>
        </p:nvSpPr>
        <p:spPr>
          <a:xfrm>
            <a:off x="6949440" y="2697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7991856" y="269748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/>
        </p:spPr>
      </p:sp>
      <p:sp>
        <p:nvSpPr>
          <p:cNvPr id="34" name="Text 31"/>
          <p:cNvSpPr/>
          <p:nvPr/>
        </p:nvSpPr>
        <p:spPr>
          <a:xfrm>
            <a:off x="7991856" y="2697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9034272" y="269748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/>
        </p:spPr>
      </p:sp>
      <p:sp>
        <p:nvSpPr>
          <p:cNvPr id="36" name="Text 33"/>
          <p:cNvSpPr/>
          <p:nvPr/>
        </p:nvSpPr>
        <p:spPr>
          <a:xfrm>
            <a:off x="9034272" y="2697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37" name="Text 34"/>
          <p:cNvSpPr/>
          <p:nvPr/>
        </p:nvSpPr>
        <p:spPr>
          <a:xfrm>
            <a:off x="5779008" y="3739896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2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949440" y="3739896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/>
        </p:spPr>
      </p:sp>
      <p:sp>
        <p:nvSpPr>
          <p:cNvPr id="39" name="Text 36"/>
          <p:cNvSpPr/>
          <p:nvPr/>
        </p:nvSpPr>
        <p:spPr>
          <a:xfrm>
            <a:off x="6949440" y="373989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40" name="Shape 37"/>
          <p:cNvSpPr/>
          <p:nvPr/>
        </p:nvSpPr>
        <p:spPr>
          <a:xfrm>
            <a:off x="7991856" y="3739896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557D6"/>
          </a:solidFill>
          <a:ln/>
        </p:spPr>
      </p:sp>
      <p:sp>
        <p:nvSpPr>
          <p:cNvPr id="41" name="Text 38"/>
          <p:cNvSpPr/>
          <p:nvPr/>
        </p:nvSpPr>
        <p:spPr>
          <a:xfrm>
            <a:off x="7991856" y="373989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9034272" y="3739896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/>
        </p:spPr>
      </p:sp>
      <p:sp>
        <p:nvSpPr>
          <p:cNvPr id="43" name="Text 40"/>
          <p:cNvSpPr/>
          <p:nvPr/>
        </p:nvSpPr>
        <p:spPr>
          <a:xfrm>
            <a:off x="9034272" y="373989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44" name="Text 41"/>
          <p:cNvSpPr/>
          <p:nvPr/>
        </p:nvSpPr>
        <p:spPr>
          <a:xfrm>
            <a:off x="5779008" y="4782312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3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6949440" y="4782312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/>
        </p:spPr>
      </p:sp>
      <p:sp>
        <p:nvSpPr>
          <p:cNvPr id="46" name="Text 43"/>
          <p:cNvSpPr/>
          <p:nvPr/>
        </p:nvSpPr>
        <p:spPr>
          <a:xfrm>
            <a:off x="6949440" y="47823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47" name="Shape 44"/>
          <p:cNvSpPr/>
          <p:nvPr/>
        </p:nvSpPr>
        <p:spPr>
          <a:xfrm>
            <a:off x="7991856" y="4782312"/>
            <a:ext cx="914400" cy="9144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/>
        </p:spPr>
      </p:sp>
      <p:sp>
        <p:nvSpPr>
          <p:cNvPr id="48" name="Text 45"/>
          <p:cNvSpPr/>
          <p:nvPr/>
        </p:nvSpPr>
        <p:spPr>
          <a:xfrm>
            <a:off x="7991856" y="47823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00" dirty="0"/>
          </a:p>
        </p:txBody>
      </p:sp>
      <p:sp>
        <p:nvSpPr>
          <p:cNvPr id="49" name="Shape 46"/>
          <p:cNvSpPr/>
          <p:nvPr/>
        </p:nvSpPr>
        <p:spPr>
          <a:xfrm>
            <a:off x="9034272" y="4782312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557D6"/>
          </a:solidFill>
          <a:ln/>
        </p:spPr>
      </p:sp>
      <p:sp>
        <p:nvSpPr>
          <p:cNvPr id="50" name="Text 47"/>
          <p:cNvSpPr/>
          <p:nvPr/>
        </p:nvSpPr>
        <p:spPr>
          <a:xfrm>
            <a:off x="9034272" y="47823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1" name="Shape 48"/>
          <p:cNvSpPr/>
          <p:nvPr/>
        </p:nvSpPr>
        <p:spPr>
          <a:xfrm>
            <a:off x="502920" y="5943600"/>
            <a:ext cx="41148" cy="457200"/>
          </a:xfrm>
          <a:prstGeom prst="rect">
            <a:avLst/>
          </a:prstGeom>
          <a:solidFill>
            <a:srgbClr val="1FAE64"/>
          </a:solidFill>
          <a:ln/>
        </p:spPr>
      </p:sp>
      <p:sp>
        <p:nvSpPr>
          <p:cNvPr id="52" name="Text 49"/>
          <p:cNvSpPr/>
          <p:nvPr/>
        </p:nvSpPr>
        <p:spPr>
          <a:xfrm>
            <a:off x="704088" y="59436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result: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the 11 languages maps to an orthogonal vector, so the distance between any two labels is mathematically identical.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/ STEP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Setup &amp; Hyperparameters</a:t>
            </a:r>
            <a:endParaRPr lang="en-US" sz="2800" dirty="0"/>
          </a:p>
        </p:txBody>
      </p:sp>
      <p:pic>
        <p:nvPicPr>
          <p:cNvPr id="4" name="Image 0" descr="/home/claude/assets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287" y="365760"/>
            <a:ext cx="475488" cy="5852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25880"/>
            <a:ext cx="12191695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BaoBao AI — SA Language Classifier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5361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configuration used to fit the model, and what the training run told us.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2057400"/>
            <a:ext cx="54864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2240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&amp; Training Configuration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6700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 size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00400" y="26700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25,000 words + &lt;OOV&gt; token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7240" y="2980944"/>
            <a:ext cx="4937760" cy="0"/>
          </a:xfrm>
          <a:prstGeom prst="line">
            <a:avLst/>
          </a:prstGeom>
          <a:noFill/>
          <a:ln w="12700">
            <a:solidFill>
              <a:srgbClr val="F0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0358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length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200400" y="303580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tokens (post-padding)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77240" y="3346704"/>
            <a:ext cx="4937760" cy="0"/>
          </a:xfrm>
          <a:prstGeom prst="line">
            <a:avLst/>
          </a:prstGeom>
          <a:noFill/>
          <a:ln w="12700">
            <a:solidFill>
              <a:srgbClr val="F0F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401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dimension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200400" y="340156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77240" y="3712464"/>
            <a:ext cx="4937760" cy="0"/>
          </a:xfrm>
          <a:prstGeom prst="line">
            <a:avLst/>
          </a:prstGeom>
          <a:noFill/>
          <a:ln w="12700">
            <a:solidFill>
              <a:srgbClr val="F0F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37673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SpatialDropout1D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200400" y="376732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77240" y="4078224"/>
            <a:ext cx="4937760" cy="0"/>
          </a:xfrm>
          <a:prstGeom prst="line">
            <a:avLst/>
          </a:prstGeom>
          <a:noFill/>
          <a:ln w="12700">
            <a:solidFill>
              <a:srgbClr val="F0F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413308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units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200400" y="413308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77240" y="4443984"/>
            <a:ext cx="4937760" cy="0"/>
          </a:xfrm>
          <a:prstGeom prst="line">
            <a:avLst/>
          </a:prstGeom>
          <a:noFill/>
          <a:ln w="12700">
            <a:solidFill>
              <a:srgbClr val="F0F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44988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200400" y="44988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Dense(11), softmax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77240" y="4809744"/>
            <a:ext cx="4937760" cy="0"/>
          </a:xfrm>
          <a:prstGeom prst="line">
            <a:avLst/>
          </a:prstGeom>
          <a:noFill/>
          <a:ln w="12700">
            <a:solidFill>
              <a:srgbClr val="F0F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48646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 parameters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200400" y="486460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3,292,711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77240" y="5175504"/>
            <a:ext cx="4937760" cy="0"/>
          </a:xfrm>
          <a:prstGeom prst="line">
            <a:avLst/>
          </a:prstGeom>
          <a:noFill/>
          <a:ln w="12700">
            <a:solidFill>
              <a:srgbClr val="F0F2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" y="52303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3200400" y="523036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777240" y="5541264"/>
            <a:ext cx="4937760" cy="0"/>
          </a:xfrm>
          <a:prstGeom prst="line">
            <a:avLst/>
          </a:prstGeom>
          <a:noFill/>
          <a:ln w="12700">
            <a:solidFill>
              <a:srgbClr val="F0F2F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7240" y="55961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 run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3200400" y="559612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of 10 planned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400800" y="2057400"/>
            <a:ext cx="528523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693408" y="22677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82DB"/>
          </a:solidFill>
          <a:ln/>
        </p:spPr>
      </p:sp>
      <p:sp>
        <p:nvSpPr>
          <p:cNvPr id="39" name="Text 36"/>
          <p:cNvSpPr/>
          <p:nvPr/>
        </p:nvSpPr>
        <p:spPr>
          <a:xfrm>
            <a:off x="6693408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315200" y="2267712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Convergence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693408" y="2816352"/>
            <a:ext cx="47000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accuracy reached 97.1% after a single epoch and 97.6% by epoch 3 — the task is well-matched to the architecture, and most of the learning happens early.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400800" y="4160520"/>
            <a:ext cx="52852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693408" y="43708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82DB"/>
          </a:solidFill>
          <a:ln/>
        </p:spPr>
      </p:sp>
      <p:sp>
        <p:nvSpPr>
          <p:cNvPr id="44" name="Text 41"/>
          <p:cNvSpPr/>
          <p:nvPr/>
        </p:nvSpPr>
        <p:spPr>
          <a:xfrm>
            <a:off x="6693408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7315200" y="4370832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 on Validation Loss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6693408" y="4919472"/>
            <a:ext cx="470001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loss bottomed at epoch 5 (0.0858) then rose for two consecutive epochs while training loss kept falling. Training halted at epoch 7 rather than 10, and the best-performing weights were retained.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800" dirty="0"/>
          </a:p>
        </p:txBody>
      </p:sp>
      <p:pic>
        <p:nvPicPr>
          <p:cNvPr id="4" name="Image 0" descr="/home/claude/assets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287" y="365760"/>
            <a:ext cx="475488" cy="5852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25880"/>
            <a:ext cx="12191695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BaoBao AI — SA Language Classifier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5087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A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pPr indent="0" marL="0">
              <a:buNone/>
            </a:pPr>
            <a:r>
              <a:rPr lang="en-US" sz="3000" b="1" dirty="0">
                <a:solidFill>
                  <a:srgbClr val="8FD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50292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F1-Score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02920" y="2651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63,613 unseen test sentences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306324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pic>
        <p:nvPicPr>
          <p:cNvPr id="12" name="Image 1" descr="/home/claude/assets/train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46120"/>
            <a:ext cx="4846320" cy="19503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533362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vs. validation accuracy and loss over 7 epochs — validation loss flattens while training loss keeps falling, the mild overfitting that triggered early stopping.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35508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47688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82DB"/>
          </a:solidFill>
          <a:ln/>
        </p:spPr>
      </p:sp>
      <p:sp>
        <p:nvSpPr>
          <p:cNvPr id="16" name="Text 12"/>
          <p:cNvSpPr/>
          <p:nvPr/>
        </p:nvSpPr>
        <p:spPr>
          <a:xfrm>
            <a:off x="6647688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269480" y="18288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Strong, Balanced Performance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647688" y="2395728"/>
            <a:ext cx="47640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and weighted F1 both landed at 0.98, meaning performance holds up even for the smallest classes rather than being carried by English and Afrikaans.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355080" y="37947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647688" y="40050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82DB"/>
          </a:solidFill>
          <a:ln/>
        </p:spPr>
      </p:sp>
      <p:sp>
        <p:nvSpPr>
          <p:cNvPr id="21" name="Text 17"/>
          <p:cNvSpPr/>
          <p:nvPr/>
        </p:nvSpPr>
        <p:spPr>
          <a:xfrm>
            <a:off x="6647688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269480" y="400507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Model Struggles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647688" y="4553712"/>
            <a:ext cx="47640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Per-class F1 ranged from 0.95 to 1.00. The lowest scores — isiNdebele (0.95) and siSwati (0.95) — are both Nguni languages closely related to isiZulu (0.96), exactly the confusion an LSTM was chosen to minimise. Xitsonga scored highest at 1.00.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with Judging Criteria</a:t>
            </a:r>
            <a:endParaRPr lang="en-US" sz="2800" dirty="0"/>
          </a:p>
        </p:txBody>
      </p:sp>
      <p:pic>
        <p:nvPicPr>
          <p:cNvPr id="4" name="Image 0" descr="/home/claude/assets/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3287" y="365760"/>
            <a:ext cx="475488" cy="5852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325880"/>
            <a:ext cx="12191695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BaoBao AI — SA Language Classifier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5544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criterion is backed by a concrete artefact from the pipeline.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2057400"/>
            <a:ext cx="3611880" cy="40690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58952" y="22677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4F82DB"/>
          </a:solidFill>
          <a:ln/>
        </p:spPr>
      </p:sp>
      <p:sp>
        <p:nvSpPr>
          <p:cNvPr id="11" name="Text 8"/>
          <p:cNvSpPr/>
          <p:nvPr/>
        </p:nvSpPr>
        <p:spPr>
          <a:xfrm>
            <a:off x="758952" y="2267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89304" y="2267712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Understanding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8952" y="2852928"/>
            <a:ext cx="3099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A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loading &amp; cleaning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05840" y="3108960"/>
            <a:ext cx="28529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parser stripped &lt;fn&gt; tags and license headers from raw NCHLT XML.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" y="3785616"/>
            <a:ext cx="3099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A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05840" y="4041648"/>
            <a:ext cx="28529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distribution plotted across all 11 languages; ~4.3x imbalance identified.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58952" y="4718304"/>
            <a:ext cx="3099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A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005840" y="4974336"/>
            <a:ext cx="28529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25k-word vocabulary with &lt;OOV&gt;, 35-token padding, one-hot labels.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58952" y="5623560"/>
            <a:ext cx="3099816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8952" y="5705856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636,123 clean sentences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288536" y="2057400"/>
            <a:ext cx="3611880" cy="40690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44568" y="22677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4F82DB"/>
          </a:solidFill>
          <a:ln/>
        </p:spPr>
      </p:sp>
      <p:sp>
        <p:nvSpPr>
          <p:cNvPr id="23" name="Text 20"/>
          <p:cNvSpPr/>
          <p:nvPr/>
        </p:nvSpPr>
        <p:spPr>
          <a:xfrm>
            <a:off x="4544568" y="2267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074920" y="2267712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44568" y="2852928"/>
            <a:ext cx="3099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A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791456" y="3108960"/>
            <a:ext cx="28529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Shuffled before splitting to remove order bias.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44568" y="3785616"/>
            <a:ext cx="3099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A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splitting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791456" y="4041648"/>
            <a:ext cx="28529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80/10/10 train / validation / test — test set held out entirely.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544568" y="4718304"/>
            <a:ext cx="3099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A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791456" y="4974336"/>
            <a:ext cx="28529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 documented and re-runnable in Colab.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544568" y="5623560"/>
            <a:ext cx="3099816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44568" y="5705856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508,898 / 63,612 / 63,613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074152" y="2057400"/>
            <a:ext cx="3611880" cy="40690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332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330184" y="22677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4F82DB"/>
          </a:solidFill>
          <a:ln/>
        </p:spPr>
      </p:sp>
      <p:sp>
        <p:nvSpPr>
          <p:cNvPr id="35" name="Text 32"/>
          <p:cNvSpPr/>
          <p:nvPr/>
        </p:nvSpPr>
        <p:spPr>
          <a:xfrm>
            <a:off x="8330184" y="2267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860536" y="2267712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Modelling &amp; Results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8330184" y="2852928"/>
            <a:ext cx="3099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A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8577072" y="3108960"/>
            <a:ext cx="28529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justified on sequence and word-order sensitivity.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330184" y="3785616"/>
            <a:ext cx="3099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A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Sufficient complexity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8577072" y="4041648"/>
            <a:ext cx="28529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3,292,711 trainable parameters across 4 layers.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8330184" y="4718304"/>
            <a:ext cx="3099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A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8577072" y="4974336"/>
            <a:ext cx="28529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 chosen specifically to account for class imbalance.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8330184" y="5623560"/>
            <a:ext cx="3099816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330184" y="5705856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 Macro F1-Score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234440"/>
            <a:ext cx="3383280" cy="41513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255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777240" y="19659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822960" y="3108960"/>
            <a:ext cx="45720" cy="868680"/>
          </a:xfrm>
          <a:prstGeom prst="rect">
            <a:avLst/>
          </a:prstGeom>
          <a:solidFill>
            <a:srgbClr val="2557D6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3063240"/>
            <a:ext cx="6035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“BaoBao provides a foundation for inclusive digital services across South Africa.”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4343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636,123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47091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880360" y="4343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880360" y="47091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937760" y="4343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937760" y="47091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2960" y="5257800"/>
            <a:ext cx="2057400" cy="548640"/>
          </a:xfrm>
          <a:prstGeom prst="roundRect">
            <a:avLst>
              <a:gd name="adj" fmla="val 50000"/>
            </a:avLst>
          </a:prstGeom>
          <a:solidFill>
            <a:srgbClr val="17233A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52578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Questions?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BaoBao AI — SA Language Classifier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4013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2026-08-06T15:27:22Z</dcterms:created>
  <dcterms:modified xsi:type="dcterms:W3CDTF">2026-08-06T15:27:22Z</dcterms:modified>
</cp:coreProperties>
</file>